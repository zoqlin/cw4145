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445b18be024494" /><Relationship Type="http://schemas.openxmlformats.org/officeDocument/2006/relationships/extended-properties" Target="/docProps/app.xml" Id="R2085779d331f4c88" /><Relationship Type="http://schemas.openxmlformats.org/officeDocument/2006/relationships/officeDocument" Target="/ppt/presentation.xml" Id="Rafd7c279cd3344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402f4d63894796"/>
  </p:sldMasterIdLst>
  <p:notesMasterIdLst>
    <p:notesMasterId xmlns:r="http://schemas.openxmlformats.org/officeDocument/2006/relationships" r:id="R931195f539674523"/>
  </p:notesMasterIdLst>
  <p:sldIdLst>
    <p:sldId xmlns:r="http://schemas.openxmlformats.org/officeDocument/2006/relationships" id="256" r:id="R9596ba80ac114387"/>
    <p:sldId xmlns:r="http://schemas.openxmlformats.org/officeDocument/2006/relationships" id="257" r:id="Rde23067a9b564ebb"/>
    <p:sldId xmlns:r="http://schemas.openxmlformats.org/officeDocument/2006/relationships" id="258" r:id="R85f44e26d5d34ff2"/>
    <p:sldId xmlns:r="http://schemas.openxmlformats.org/officeDocument/2006/relationships" id="259" r:id="Rb58ff44656b443a3"/>
    <p:sldId xmlns:r="http://schemas.openxmlformats.org/officeDocument/2006/relationships" id="260" r:id="Rd9ea7f5b450646ce"/>
    <p:sldId xmlns:r="http://schemas.openxmlformats.org/officeDocument/2006/relationships" id="261" r:id="R826e1b7deceb4ced"/>
    <p:sldId xmlns:r="http://schemas.openxmlformats.org/officeDocument/2006/relationships" id="262" r:id="Rea9900e93b174160"/>
    <p:sldId xmlns:r="http://schemas.openxmlformats.org/officeDocument/2006/relationships" id="263" r:id="R71952654d1fd4387"/>
    <p:sldId xmlns:r="http://schemas.openxmlformats.org/officeDocument/2006/relationships" id="264" r:id="Ref14ba20045e451a"/>
    <p:sldId xmlns:r="http://schemas.openxmlformats.org/officeDocument/2006/relationships" id="265" r:id="R02cc60dcce6944bc"/>
    <p:sldId xmlns:r="http://schemas.openxmlformats.org/officeDocument/2006/relationships" id="266" r:id="R30178ec8e400423d"/>
    <p:sldId xmlns:r="http://schemas.openxmlformats.org/officeDocument/2006/relationships" id="267" r:id="R7744893e1f434c57"/>
    <p:sldId xmlns:r="http://schemas.openxmlformats.org/officeDocument/2006/relationships" id="268" r:id="R1c1b7b7052a44122"/>
    <p:sldId xmlns:r="http://schemas.openxmlformats.org/officeDocument/2006/relationships" id="269" r:id="R155bec7f4b794349"/>
    <p:sldId xmlns:r="http://schemas.openxmlformats.org/officeDocument/2006/relationships" id="270" r:id="R6a36bfc91e8c4c2f"/>
    <p:sldId xmlns:r="http://schemas.openxmlformats.org/officeDocument/2006/relationships" id="271" r:id="R2b635f76b84c4757"/>
    <p:sldId xmlns:r="http://schemas.openxmlformats.org/officeDocument/2006/relationships" id="272" r:id="R2773dc96126f4150"/>
    <p:sldId xmlns:r="http://schemas.openxmlformats.org/officeDocument/2006/relationships" id="273" r:id="Re805047e2e674253"/>
    <p:sldId xmlns:r="http://schemas.openxmlformats.org/officeDocument/2006/relationships" id="274" r:id="R4eb311147f154e1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402f4d63894796" /><Relationship Type="http://schemas.openxmlformats.org/officeDocument/2006/relationships/theme" Target="/ppt/theme/theme1.xml" Id="R3e20b97ccd7d4bf4" /><Relationship Type="http://schemas.openxmlformats.org/officeDocument/2006/relationships/notesMaster" Target="/ppt/notesMasters/notesMaster1.xml" Id="R931195f539674523" /><Relationship Type="http://schemas.openxmlformats.org/officeDocument/2006/relationships/presProps" Target="/ppt/presProps.xml" Id="R2629e477406c47e1" /><Relationship Type="http://schemas.openxmlformats.org/officeDocument/2006/relationships/viewProps" Target="/ppt/viewProps.xml" Id="R19b117904a91432d" /><Relationship Type="http://schemas.openxmlformats.org/officeDocument/2006/relationships/tableStyles" Target="/ppt/tableStyles.xml" Id="R663a340d769441af" /><Relationship Type="http://schemas.openxmlformats.org/officeDocument/2006/relationships/slide" Target="/ppt/slides/slide1.xml" Id="R9596ba80ac114387" /><Relationship Type="http://schemas.openxmlformats.org/officeDocument/2006/relationships/slide" Target="/ppt/slides/slide2.xml" Id="Rde23067a9b564ebb" /><Relationship Type="http://schemas.openxmlformats.org/officeDocument/2006/relationships/slide" Target="/ppt/slides/slide3.xml" Id="R85f44e26d5d34ff2" /><Relationship Type="http://schemas.openxmlformats.org/officeDocument/2006/relationships/slide" Target="/ppt/slides/slide4.xml" Id="Rb58ff44656b443a3" /><Relationship Type="http://schemas.openxmlformats.org/officeDocument/2006/relationships/slide" Target="/ppt/slides/slide5.xml" Id="Rd9ea7f5b450646ce" /><Relationship Type="http://schemas.openxmlformats.org/officeDocument/2006/relationships/slide" Target="/ppt/slides/slide6.xml" Id="R826e1b7deceb4ced" /><Relationship Type="http://schemas.openxmlformats.org/officeDocument/2006/relationships/slide" Target="/ppt/slides/slide7.xml" Id="Rea9900e93b174160" /><Relationship Type="http://schemas.openxmlformats.org/officeDocument/2006/relationships/slide" Target="/ppt/slides/slide8.xml" Id="R71952654d1fd4387" /><Relationship Type="http://schemas.openxmlformats.org/officeDocument/2006/relationships/slide" Target="/ppt/slides/slide9.xml" Id="Ref14ba20045e451a" /><Relationship Type="http://schemas.openxmlformats.org/officeDocument/2006/relationships/slide" Target="/ppt/slides/slide10.xml" Id="R02cc60dcce6944bc" /><Relationship Type="http://schemas.openxmlformats.org/officeDocument/2006/relationships/slide" Target="/ppt/slides/slide11.xml" Id="R30178ec8e400423d" /><Relationship Type="http://schemas.openxmlformats.org/officeDocument/2006/relationships/slide" Target="/ppt/slides/slide12.xml" Id="R7744893e1f434c57" /><Relationship Type="http://schemas.openxmlformats.org/officeDocument/2006/relationships/slide" Target="/ppt/slides/slide13.xml" Id="R1c1b7b7052a44122" /><Relationship Type="http://schemas.openxmlformats.org/officeDocument/2006/relationships/slide" Target="/ppt/slides/slide14.xml" Id="R155bec7f4b794349" /><Relationship Type="http://schemas.openxmlformats.org/officeDocument/2006/relationships/slide" Target="/ppt/slides/slide15.xml" Id="R6a36bfc91e8c4c2f" /><Relationship Type="http://schemas.openxmlformats.org/officeDocument/2006/relationships/slide" Target="/ppt/slides/slide16.xml" Id="R2b635f76b84c4757" /><Relationship Type="http://schemas.openxmlformats.org/officeDocument/2006/relationships/slide" Target="/ppt/slides/slide17.xml" Id="R2773dc96126f4150" /><Relationship Type="http://schemas.openxmlformats.org/officeDocument/2006/relationships/slide" Target="/ppt/slides/slide18.xml" Id="Re805047e2e674253" /><Relationship Type="http://schemas.openxmlformats.org/officeDocument/2006/relationships/slide" Target="/ppt/slides/slide19.xml" Id="R4eb311147f154e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92f5dd614364f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dc7fbe121e49d1" /><Relationship Type="http://schemas.openxmlformats.org/officeDocument/2006/relationships/notesMaster" Target="/ppt/notesMasters/notesMaster1.xml" Id="R92a6220d44a84c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773787610114729" /><Relationship Type="http://schemas.openxmlformats.org/officeDocument/2006/relationships/notesMaster" Target="/ppt/notesMasters/notesMaster1.xml" Id="Rb9438bb3cc4245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6f72b907514556" /><Relationship Type="http://schemas.openxmlformats.org/officeDocument/2006/relationships/notesMaster" Target="/ppt/notesMasters/notesMaster1.xml" Id="R9292429273654b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7576987b374d97" /><Relationship Type="http://schemas.openxmlformats.org/officeDocument/2006/relationships/notesMaster" Target="/ppt/notesMasters/notesMaster1.xml" Id="Re1b7e8ca44574e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adcdca5ce243da" /><Relationship Type="http://schemas.openxmlformats.org/officeDocument/2006/relationships/notesMaster" Target="/ppt/notesMasters/notesMaster1.xml" Id="Rb3e8cc23a2524a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d41af80aab4a2b" /><Relationship Type="http://schemas.openxmlformats.org/officeDocument/2006/relationships/notesMaster" Target="/ppt/notesMasters/notesMaster1.xml" Id="R8be4f1421bc746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2cc8f2ef484ae4" /><Relationship Type="http://schemas.openxmlformats.org/officeDocument/2006/relationships/notesMaster" Target="/ppt/notesMasters/notesMaster1.xml" Id="Rbed8eca8fd374b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a4587f40f44530" /><Relationship Type="http://schemas.openxmlformats.org/officeDocument/2006/relationships/notesMaster" Target="/ppt/notesMasters/notesMaster1.xml" Id="R48e4a0411fbd40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7aa04d401044a5d" /><Relationship Type="http://schemas.openxmlformats.org/officeDocument/2006/relationships/notesMaster" Target="/ppt/notesMasters/notesMaster1.xml" Id="R2d9ee967164846d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8beaa19ee5c440d" /><Relationship Type="http://schemas.openxmlformats.org/officeDocument/2006/relationships/notesMaster" Target="/ppt/notesMasters/notesMaster1.xml" Id="R7b77306f73d7420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1399643d924ec0" /><Relationship Type="http://schemas.openxmlformats.org/officeDocument/2006/relationships/notesMaster" Target="/ppt/notesMasters/notesMaster1.xml" Id="Rf812cc37f05a41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535d7af6043454a" /><Relationship Type="http://schemas.openxmlformats.org/officeDocument/2006/relationships/notesMaster" Target="/ppt/notesMasters/notesMaster1.xml" Id="Rc84bf340e8924f7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74537ce83e848e8" /><Relationship Type="http://schemas.openxmlformats.org/officeDocument/2006/relationships/notesMaster" Target="/ppt/notesMasters/notesMaster1.xml" Id="R926a52052a934eb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023bedf2c6548a7" /><Relationship Type="http://schemas.openxmlformats.org/officeDocument/2006/relationships/notesMaster" Target="/ppt/notesMasters/notesMaster1.xml" Id="Re64feac703dd416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648ee62f79544ce" /><Relationship Type="http://schemas.openxmlformats.org/officeDocument/2006/relationships/notesMaster" Target="/ppt/notesMasters/notesMaster1.xml" Id="R5d0b98f19c3c479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d2793fc833c4436" /><Relationship Type="http://schemas.openxmlformats.org/officeDocument/2006/relationships/notesMaster" Target="/ppt/notesMasters/notesMaster1.xml" Id="R50422123773e494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377507c36864464" /><Relationship Type="http://schemas.openxmlformats.org/officeDocument/2006/relationships/notesMaster" Target="/ppt/notesMasters/notesMaster1.xml" Id="R116f066653cb460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a3148a8fcc348e6" /><Relationship Type="http://schemas.openxmlformats.org/officeDocument/2006/relationships/notesMaster" Target="/ppt/notesMasters/notesMaster1.xml" Id="Re78a3d566a6a4e8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5884c5872344104" /><Relationship Type="http://schemas.openxmlformats.org/officeDocument/2006/relationships/notesMaster" Target="/ppt/notesMasters/notesMaster1.xml" Id="Rc1a055b2713149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project title, platform, site, and one-sentence goal: transforming a real lawn into a performative MR support experience.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four-stage interaction loop clearly before moving into research and ideation.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your real research evidence here: site photos, map, and brief observation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Replace with your own lawn photos, field notes, and annotated campus map.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research was not descriptive only; it directly shaped the prototype structure.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Replace with your own lawn photos, field notes, and annotated campus map.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actual cards you used and briefly explain why those cards mattered.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Replace with your own MR creative card photos and iteration sketches.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pivot as a design decision informed by testing and HCI reasoning, not as a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Replace with your own MR creative card photos and iteration sketches.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this is now a staged MR performance space rather than a scanning demo.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should visually explain how the user learns the system step by step.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Mention the actual implementation choices without overloading the slide with code.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how this state machine improved clarity in both development and presentation.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Stress that the prototype is working in Quest 3 and not only described theoretically.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should line up with the actual demo segment in your video recording.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invent participant numbers. Replace the placeholder with your real test information before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Replace with your own participant count, test protocol, quotes, and screenshots.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Replace this with your own quotes or observations if you collected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Replace with your own participant count, test protocol, quotes, and screenshots.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screenshots from both versions if possible.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  <a:p xmlns:a="http://schemas.openxmlformats.org/drawingml/2006/main">
            <a:r>
              <a:t>- Replace with your own participant count, test protocol, quotes, and screenshots.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key theory slide. Link each concept to an actual design choice you implemented.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useful for showing deeper critical reflection beyond visual polish.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  <a:p xmlns:a="http://schemas.openxmlformats.org/drawingml/2006/main">
            <a:r>
              <a:t>- Replace with your own participant count, test protocol, quotes, and screenshots.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honest about what still needs improvement. This strengthens the reflection section.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  <a:p xmlns:a="http://schemas.openxmlformats.org/drawingml/2006/main">
            <a:r>
              <a:t>- Replace with your own participant count, test protocol, quotes, and screenshots.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reinforcing that the project covers research, ideation, prototyping, testing, and HCI reflection as one coherent process.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Based on the A-Frame/WebXR prototype implemented in CW-A/index.html.</a:t>
            </a:r>
          </a:p>
          <a:p xmlns:a="http://schemas.openxmlformats.org/drawingml/2006/main">
            <a:r>
              <a:t>- Replace with your own lawn photos, field notes, and annotated campus map.</a:t>
            </a:r>
          </a:p>
          <a:p xmlns:a="http://schemas.openxmlformats.org/drawingml/2006/main">
            <a:r>
              <a:t>- Replace with your own participant count, test protocol, quotes, and screenshots.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f5565707d48d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8C9E5F08-B594-4B46-B629-719961F9BE6A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BBB629-EEC0-423D-A02D-165ADDBC9D5A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25AF054-8CAF-46EF-AE96-25818EDCB5FD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836D5C-EA62-4BE2-8A4F-0B083DDB4041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8ae59209c20462d" /><Relationship Type="http://schemas.openxmlformats.org/officeDocument/2006/relationships/slideLayout" Target="/ppt/slideLayouts/slideLayout2.xml" Id="R6ce6c563860146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371FCAD-BE22-4CB5-A784-E45F5EB35FB2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e6c563860146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52ea6e15ce4a75" /><Relationship Type="http://schemas.openxmlformats.org/officeDocument/2006/relationships/image" Target="/ppt/media/image.png" Id="R9e1cbb91c4bf423f" /><Relationship Type="http://schemas.openxmlformats.org/officeDocument/2006/relationships/image" Target="/ppt/media/image2.png" Id="R12461c1f268b4c59" /><Relationship Type="http://schemas.openxmlformats.org/officeDocument/2006/relationships/image" Target="/ppt/media/image3.png" Id="R9f720035ba8d42a5" /><Relationship Type="http://schemas.openxmlformats.org/officeDocument/2006/relationships/image" Target="/ppt/media/image4.png" Id="R513ed9650367469a" /><Relationship Type="http://schemas.openxmlformats.org/officeDocument/2006/relationships/notesSlide" Target="/ppt/notesSlides/notesSlide1.xml" Id="R73c54e8f78b44b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745d4a025a4d62" /><Relationship Type="http://schemas.openxmlformats.org/officeDocument/2006/relationships/image" Target="/ppt/media/image5.png" Id="R52dca913170f4105" /><Relationship Type="http://schemas.openxmlformats.org/officeDocument/2006/relationships/notesSlide" Target="/ppt/notesSlides/notesSlide2.xml" Id="Rcbfe89d6b58646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962c3bc4f549f1" /><Relationship Type="http://schemas.openxmlformats.org/officeDocument/2006/relationships/image" Target="/ppt/media/image6.png" Id="R66069cb84bad4aa6" /><Relationship Type="http://schemas.openxmlformats.org/officeDocument/2006/relationships/notesSlide" Target="/ppt/notesSlides/notesSlide3.xml" Id="R3e19166f5c164f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317ed47df04cc6" /><Relationship Type="http://schemas.openxmlformats.org/officeDocument/2006/relationships/image" Target="/ppt/media/image7.png" Id="R96c82d5a87f547d8" /><Relationship Type="http://schemas.openxmlformats.org/officeDocument/2006/relationships/notesSlide" Target="/ppt/notesSlides/notesSlide4.xml" Id="R8491dcf69e8a4e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dfee8c0cfe462b" /><Relationship Type="http://schemas.openxmlformats.org/officeDocument/2006/relationships/image" Target="/ppt/media/image8.png" Id="Rea5e70e47c304a94" /><Relationship Type="http://schemas.openxmlformats.org/officeDocument/2006/relationships/notesSlide" Target="/ppt/notesSlides/notesSlide5.xml" Id="R31f9e9e1a4544e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84e605fc414e04" /><Relationship Type="http://schemas.openxmlformats.org/officeDocument/2006/relationships/image" Target="/ppt/media/image9.png" Id="R9c5ac4c946ff47f8" /><Relationship Type="http://schemas.openxmlformats.org/officeDocument/2006/relationships/notesSlide" Target="/ppt/notesSlides/notesSlide6.xml" Id="Refb5373b957b41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a3dd03b12745ba" /><Relationship Type="http://schemas.openxmlformats.org/officeDocument/2006/relationships/image" Target="/ppt/media/image10.png" Id="R0ad2d9035c19422e" /><Relationship Type="http://schemas.openxmlformats.org/officeDocument/2006/relationships/notesSlide" Target="/ppt/notesSlides/notesSlide7.xml" Id="R7efd1b4a650c4c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6e94e761c24934" /><Relationship Type="http://schemas.openxmlformats.org/officeDocument/2006/relationships/image" Target="/ppt/media/image11.png" Id="Rddeab1ac0e9f43c1" /><Relationship Type="http://schemas.openxmlformats.org/officeDocument/2006/relationships/notesSlide" Target="/ppt/notesSlides/notesSlide8.xml" Id="Reada136be8834e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0c6a3570e44464" /><Relationship Type="http://schemas.openxmlformats.org/officeDocument/2006/relationships/image" Target="/ppt/media/image12.png" Id="Rc38cd94a313745bc" /><Relationship Type="http://schemas.openxmlformats.org/officeDocument/2006/relationships/notesSlide" Target="/ppt/notesSlides/notesSlide9.xml" Id="Rf4c44cda123647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e3073c49c745f2" /><Relationship Type="http://schemas.openxmlformats.org/officeDocument/2006/relationships/image" Target="/ppt/media/image13.png" Id="Re4ab8e5d3ec44116" /><Relationship Type="http://schemas.openxmlformats.org/officeDocument/2006/relationships/notesSlide" Target="/ppt/notesSlides/notesSlide10.xml" Id="R4256a5bd443841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9ceb323563490b" /><Relationship Type="http://schemas.openxmlformats.org/officeDocument/2006/relationships/image" Target="/ppt/media/image14.png" Id="R005e949669e44e05" /><Relationship Type="http://schemas.openxmlformats.org/officeDocument/2006/relationships/notesSlide" Target="/ppt/notesSlides/notesSlide11.xml" Id="Rc0d904afc8b24e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6a9a02fed44f96" /><Relationship Type="http://schemas.openxmlformats.org/officeDocument/2006/relationships/image" Target="/ppt/media/image15.png" Id="Rf81a320ef353448d" /><Relationship Type="http://schemas.openxmlformats.org/officeDocument/2006/relationships/notesSlide" Target="/ppt/notesSlides/notesSlide12.xml" Id="R7809de6b8e7b4ad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9db7f27cd74282" /><Relationship Type="http://schemas.openxmlformats.org/officeDocument/2006/relationships/image" Target="/ppt/media/image16.png" Id="Rc49ef8f23f4b4c7b" /><Relationship Type="http://schemas.openxmlformats.org/officeDocument/2006/relationships/notesSlide" Target="/ppt/notesSlides/notesSlide13.xml" Id="Rbeba08dcc5da440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46d95574c44ed9" /><Relationship Type="http://schemas.openxmlformats.org/officeDocument/2006/relationships/image" Target="/ppt/media/image17.png" Id="R2e81131a411e44ef" /><Relationship Type="http://schemas.openxmlformats.org/officeDocument/2006/relationships/notesSlide" Target="/ppt/notesSlides/notesSlide14.xml" Id="R213988c3bfa14a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4caab99d6b4b51" /><Relationship Type="http://schemas.openxmlformats.org/officeDocument/2006/relationships/image" Target="/ppt/media/image18.png" Id="R360d3a55aea84e22" /><Relationship Type="http://schemas.openxmlformats.org/officeDocument/2006/relationships/notesSlide" Target="/ppt/notesSlides/notesSlide15.xml" Id="Rd705127c7ec34bd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ad0205d73d4b38" /><Relationship Type="http://schemas.openxmlformats.org/officeDocument/2006/relationships/image" Target="/ppt/media/image19.png" Id="R7f087e14d146477b" /><Relationship Type="http://schemas.openxmlformats.org/officeDocument/2006/relationships/notesSlide" Target="/ppt/notesSlides/notesSlide16.xml" Id="R5c9b557706a544d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3dc3b551e84e2c" /><Relationship Type="http://schemas.openxmlformats.org/officeDocument/2006/relationships/image" Target="/ppt/media/image20.png" Id="Rf5b94fd04d354410" /><Relationship Type="http://schemas.openxmlformats.org/officeDocument/2006/relationships/notesSlide" Target="/ppt/notesSlides/notesSlide17.xml" Id="R403326f7c16c468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8f6536b4e343ab" /><Relationship Type="http://schemas.openxmlformats.org/officeDocument/2006/relationships/image" Target="/ppt/media/image21.png" Id="R6eeafe1f7da7457a" /><Relationship Type="http://schemas.openxmlformats.org/officeDocument/2006/relationships/notesSlide" Target="/ppt/notesSlides/notesSlide18.xml" Id="Rf4ad1feebb5d414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7c41b945594d32" /><Relationship Type="http://schemas.openxmlformats.org/officeDocument/2006/relationships/image" Target="/ppt/media/image22.png" Id="R3cd869e5ae084354" /><Relationship Type="http://schemas.openxmlformats.org/officeDocument/2006/relationships/notesSlide" Target="/ppt/notesSlides/notesSlide19.xml" Id="R3d7fe493c1234f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cbb91c4bf423f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9A47FC-21EF-439E-B3E5-26FAE3BC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851F5-F3FB-4E1C-9EE3-C22B34D6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A63B-D06E-44AA-9C8E-C0D8E9DD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D1653-421F-4235-A24A-241A157E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E9418-BA53-44EA-BAC6-51565CDA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6019800" cy="5391150"/>
          </a:xfrm>
          <a:prstGeom xmlns:a="http://schemas.openxmlformats.org/drawingml/2006/main" prst="roundRect">
            <a:avLst>
              <a:gd name="adj" fmla="val 1413"/>
            </a:avLst>
          </a:prstGeom>
          <a:solidFill xmlns:a="http://schemas.openxmlformats.org/drawingml/2006/main">
            <a:srgbClr val="0A1716">
              <a:alpha val="84706"/>
            </a:srgbClr>
          </a:solidFill>
          <a:ln xmlns:a="http://schemas.openxmlformats.org/drawingml/2006/main" w="11430">
            <a:solidFill>
              <a:srgbClr val="4865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7E0B2-DCA8-44ED-900A-1D8FF2A2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99C52C-21BE-4E9D-99E5-2549537F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704850"/>
            <a:ext cx="3848100" cy="3848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784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677DE1-940E-4BBA-9D3D-A46B4329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7734300" y="914400"/>
            <a:ext cx="2019300" cy="27432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10201C">
              <a:alpha val="90196"/>
            </a:srgbClr>
          </a:solidFill>
          <a:ln xmlns:a="http://schemas.openxmlformats.org/drawingml/2006/main" w="10478">
            <a:solidFill>
              <a:srgbClr val="59786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AAF7B-ECF2-4C91-8062-2DD3D0C3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">
            <a:off x="7734300" y="914400"/>
            <a:ext cx="2019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461c1f268b4c59"/>
          <a:srcRect xmlns:a="http://schemas.openxmlformats.org/drawingml/2006/main" l="26373" t="0" r="263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-540000">
            <a:off x="7848600" y="1028700"/>
            <a:ext cx="1790700" cy="2514600"/>
          </a:xfrm>
          <a:prstGeom xmlns:a="http://schemas.openxmlformats.org/drawingml/2006/main" prst="round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DB5649-D04F-47F5-AB9F-F2FBC8E5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80000">
            <a:off x="9277350" y="1619250"/>
            <a:ext cx="1905000" cy="25908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0201C">
              <a:alpha val="90196"/>
            </a:srgbClr>
          </a:solidFill>
          <a:ln xmlns:a="http://schemas.openxmlformats.org/drawingml/2006/main" w="10478">
            <a:solidFill>
              <a:srgbClr val="59786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575500-64C7-42FB-A709-4A90C76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80000">
            <a:off x="9277350" y="1619250"/>
            <a:ext cx="1905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720035ba8d42a5"/>
          <a:srcRect xmlns:a="http://schemas.openxmlformats.org/drawingml/2006/main" l="26454" t="0" r="2645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480000">
            <a:off x="9391650" y="1733550"/>
            <a:ext cx="1676400" cy="2362200"/>
          </a:xfrm>
          <a:prstGeom xmlns:a="http://schemas.openxmlformats.org/drawingml/2006/main" prst="round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BA8F43-28C8-4743-A65B-75A2E37F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8229600" y="3352800"/>
            <a:ext cx="24765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201C">
              <a:alpha val="90196"/>
            </a:srgbClr>
          </a:solidFill>
          <a:ln xmlns:a="http://schemas.openxmlformats.org/drawingml/2006/main" w="10478">
            <a:solidFill>
              <a:srgbClr val="59786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2FF836-655E-4416-B03E-66D68758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40000">
            <a:off x="8229600" y="335280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3ed9650367469a"/>
          <a:srcRect xmlns:a="http://schemas.openxmlformats.org/drawingml/2006/main" l="0" t="21827" r="0" b="218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-240000">
            <a:off x="8343900" y="3467100"/>
            <a:ext cx="2247900" cy="2247900"/>
          </a:xfrm>
          <a:prstGeom xmlns:a="http://schemas.openxmlformats.org/drawingml/2006/main" prst="round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338E0C-9405-4E17-BBA9-6A5126FB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38200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CW4145 FINAL PRESENTATION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CA7E87-18A8-4561-AB2F-ED00D02D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38250"/>
            <a:ext cx="7477125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4FFF8"/>
                </a:solidFill>
              </a:defRPr>
            </a:pPr>
            <a:r>
              <a:rPr sz="3600" b="1">
                <a:solidFill>
                  <a:srgbClr val="F4FFF8"/>
                </a:solidFill>
              </a:rPr>
              <a:t>Champagne Green MR Idol Support Stage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27CCE9-5758-434C-9E50-AC55A387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581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D2C8"/>
                </a:solidFill>
              </a:defRPr>
            </a:pPr>
            <a:r>
              <a:rPr sz="1500" b="0">
                <a:solidFill>
                  <a:srgbClr val="C0D2C8"/>
                </a:solidFill>
              </a:rPr>
              <a:t>A world-locked mixed reality performance designed for the UNNC campus lawn.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2505FB-07A6-40ED-BEAB-FB32D554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43400"/>
            <a:ext cx="3714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F4FFF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2D68B5-BF08-4A4C-9501-E7D6B88C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52950"/>
            <a:ext cx="3200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4FFF8"/>
                </a:solidFill>
              </a:defRPr>
            </a:pPr>
            <a:r>
              <a:rPr sz="1725" b="1">
                <a:solidFill>
                  <a:srgbClr val="F4FFF8"/>
                </a:solidFill>
              </a:rPr>
              <a:t>From campus lawn to spatial fan-support stage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E38F84-2270-4E84-AA50-820FDC4E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9602131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ca913170f4105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1F8D0-C1BD-4789-BF9F-F6B83FB7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77443C-891A-4E44-A6D9-801976F6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0C5A6F-6347-4AB6-B586-0A3CEB6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DCCAB-E347-4B44-90C3-303D90B2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35DF0C-6E5E-4370-8AA6-5983CEA4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F71528-6604-452D-ACF7-4D91EFD1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01 PROJECT OVERVIEW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3C0FB-4CA0-4B2F-A63C-36FD8EB4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02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CC64E-3239-4068-B77B-631F3851C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7FAC5-ECCE-4457-8238-2A3B7E50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E39762-CCD9-45D6-AD21-E42263D5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Design Goal And Experience Loop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166FAB-3046-46CB-B7C4-83FAAFC8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The project is designed as a performative interaction rather than a passive media viewer.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9DF1E9-7E29-4D54-904F-5D436F8E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7948FE-873F-4DC6-8B84-889999D7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5EFEE4-6DD4-46E6-98EF-FD4348A4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76972D-B0DF-4622-902F-7BF97ED9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1D1D5D-DE43-459A-982A-C5F49C79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528098-A9C3-455C-B737-F35B93D6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43D8FD-C8BD-487B-B8B9-416E2FCA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Summon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0595E5-80B4-4967-BE17-DB2F9A19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Press Start Experience and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generate a world-locked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central screen plus member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arc on the lawn.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3A82F9-689E-4458-A875-BD84FCC0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2293CA-9A32-4C55-9042-13DC438B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3CC06C-D566-43E4-9E9E-7BFE3398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5F915-362D-400F-BE69-FDF026B4C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E19E0-CA21-4B78-ADB7-9C4960FA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42A24D-2803-46A5-AEF0-162A35EE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E2A700-35E9-4BD6-8396-0228702F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Lock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396B7C-E9F9-4CC8-A7A0-AFAA6D98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Approach or pinch a member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to trigger voice playback,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visual focus, and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light-stick synchronization.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A5001C-3930-4D47-90F1-C11AD218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A931FD-2C3F-4EED-8C50-47BE2AAB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ED66DF-7E4D-4CA4-9DB3-40715769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73C26F-EBDA-4E1D-8C02-2F383AEC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293F29-F1A8-4E27-9144-C13BFFE5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F9F65E-307D-4E9A-9E40-6494B9B2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B7F262-48A3-49CF-8C50-E0F1A0F8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Perform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2C9DFE-4041-4D73-865D-C596EA9B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Wave the hand and light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stick to generate particles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and support-stage feedback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around the active member.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06353F-2E09-4BE6-A599-10A18D1E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9910307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69cb84bad4aa6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031A34-BBEE-47BC-9A88-EF612BC1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0188D8-D228-4BCB-BC85-8183C933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48184-0F39-48B0-B167-1A6839BF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475BA9-416C-475C-9EE6-FFC6FC6F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BD9F6-3350-4FCC-8EE7-F1CC37CA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D2182-FC25-465C-8CB4-F698B0208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02 RESEARCH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BF6CF-F8B5-42A2-AC93-EC89506B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03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FD4D17-73C1-471E-A3BA-E8F0023D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3A1FE0-DD45-4CEA-813F-0D4F6076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8CD0B-20D4-4501-99AC-2A212DA9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Why The UNNC Lawn Was Selected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13BB75-E716-4641-A20E-C8228396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The site was chosen because it supports embodied movement, clear visibility, and spatial staging.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0D0B98-76E7-493D-8A3C-C4DF0452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90FBA-218C-48F2-8302-609230D7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3EA4BD-8077-4250-9A2D-34D6E32F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Open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BB5474-FD7C-4F90-9B69-B767D0CE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Wide walkable area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1F7F46-C55D-4A78-AB72-D6B6BA62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Supports safe turning, approach, and embodied performance.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8258F8-BBE5-4F7D-B773-C2D27A39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0A1FB8-B378-4477-A201-4F3EE1C6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9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2AF911-0955-4090-8D77-DCDB14F8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Visible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7F054E-557D-472D-A18C-A1AEEA44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Clear line of sight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05486E-7B8A-40D1-8E42-B50EAEE7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Lets users read the stage composition without heavy clutter.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945D76-4999-49FB-8909-72D48E1F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C6B7BC-250D-4CA5-A653-ED6AD63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E63CA6-331B-421D-9BD9-2AD8ED29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Specific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0E548F-0A09-403A-99A3-9BFCF60E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Campus landmark context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3B1E3F-5D1D-4897-B558-470B2A67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Strengthens the project as a site-specific MR installation.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4E7164-319D-495B-803B-DDBFA81E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979544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c82d5a87f547d8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7E5F98-8ABF-4ECF-BD09-9FFA3AD81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97EFAB-7D2B-452B-ADDF-531A0C55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8D61E6-01E5-40CA-BD09-EAE433F7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2C6FB-2964-4150-AE54-CD009383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53D87A-DEC3-4A0F-AB21-36D4AFBC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F28EA5-39C9-457C-A04B-2D5C340A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03 RESEARCH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E1A551-CE18-40E9-BEE1-9E064382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04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4E3D88-D249-4733-90D5-D2F1F835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F77B7B-8E4F-4CF3-A58B-848691E1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BE4167-60B8-4201-9958-6C97FAB1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Research Findings To Design Decisions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1F63A6-F995-4419-8B36-2AE1D078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Each field observation directly informed a layout or interaction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0E403A-5725-463F-9C7C-10050984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23BF84-3615-4C13-9B81-43434B3C3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E6ABA0-7BF1-41E2-AF51-5B44FAF4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79057A-3EA1-4DCE-A519-5026EA5A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7B8F4D-6C7C-4E0B-9E85-35BA726D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6F62F2-72B0-4268-A0D1-E3EBE06E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469A-A374-4993-B61D-65ECF5AE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Open lawn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DD3903-7695-435A-B8EA-24B1493E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Use a world-locked stage so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users must physically walk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through the site instead of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standing still.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08E7D0-6A3F-4C87-9215-3F657E07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0B6D3F-4FDF-49E8-9467-47B630D1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D5E1E9-A279-4B5A-9374-F4057AA1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BC3007-DD98-4A32-A602-B9ED844F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14464E-86BF-4E47-9583-B7B42891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E16A3B-F748-4602-9EE7-46A1D004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D348EF-ADDE-4E83-9FC9-27B94E71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Wide field of 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C15947-2613-4BCA-87AA-1EB8478B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Arrange members in a curved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layout to reduce excessive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head turning and keep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targets ergonomic.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959614-19BA-4B97-B5F0-0B5BC935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89B3DC-A407-4558-BBDF-914A1F6D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A3DA0F-033F-44F1-8582-DBE8CF86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9AA4A5-B702-42E2-AFAB-AF385B8A0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433A06-45ED-4545-B000-76654991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488F13-4D77-4405-B641-E7EA007A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C437E0-4195-491B-A73F-70033FA3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Outdoor uncertainty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02069A-9278-4414-A1BE-3AB767DF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Use strong visual state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changes and proximity as a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fallback when hand input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becomes unreliable.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85AE87-02ED-4905-838E-68694C89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8047179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5e70e47c304a94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E2AD45-EF3E-4FFD-9059-7C2133F6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1EB64C-7DB4-4952-8721-E12C978F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468BE-A9EE-4C79-A1B6-0F04244D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BB5F8-870B-4C7A-9A70-E6D5A9007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6BB4E-0775-4714-BF0D-45CCD1C7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2E2D37-59BB-41DE-A039-B30CF9DB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04 IDEATION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635F50-EB0B-4F0D-8736-D29FE570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05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83EF1-ADEA-41E0-81EC-0B85C58F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4FCE8C-824C-4EC2-B3D4-E5EBAA98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53BA1-D12C-4745-9886-F7E86F5A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Ideation With Mixed Reality Creative Cards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FB1582-178D-4A28-BEDD-BC2E8427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Creative cards were used to structure the concept around site, trigger, performance, and feedback.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F593D4-5097-4C1A-B879-690A0113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8BF842-936F-4166-85E0-AE158FA1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322CD6-0904-45CC-B11D-6FE61754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B42ACF-C60D-4C33-9837-7B90CAF6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7988EF-7670-4344-905F-7D37D1A9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2B3288-6F63-4E3B-B738-67B32201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2A0F06-8DAD-46D1-A03A-FEF1B420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Space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5C3304-2B1A-492A-AE5E-6E50234D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 focused on cards that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encouraged site-specific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staging instead of floating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interface panels.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FA0615-F5FB-4AB0-A831-14C2A62C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19DFF8-F95D-465F-9E99-29781B3B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5D7C12-A55C-4E45-87BD-88516DCE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71E27D-31B4-44D6-B990-9B675E62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7E23A4-5DE9-428B-A5CC-E251A9B9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AAB0EA-6484-4709-9632-18787DAA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2F6D23-1B4A-4C17-A5CF-74226A9D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Trigger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ED955E-6C9E-4D93-A73A-6553901C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 explored scanning,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proximity, and gesture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options before choosing a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more stable hybrid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interaction.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7E7B35-D458-49A3-A160-1B25425A1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ABE0FF-A7B0-4228-AE2A-33E25685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D8FE22-7B73-4660-B49F-69D613BB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9FE368-3C39-4A47-B2CA-4B6C50B8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A94E6D-9F79-4929-B6FF-8D4DEFBF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AF0E9D-BC9E-484C-B01C-13E50057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88405C-2D2D-48CB-A921-AFA3C6AA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Performance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0501CA-3122-4F99-A8DE-2C02E5D9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 intentionally pushed the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concept toward embodied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support behavior, not just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media consumption.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886EF6-11A5-4AF8-BA0D-9A197CF52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8976567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5ac4c946ff47f8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230717-C1D2-4B17-96F2-86442061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BFB676-F8E2-4529-B2EE-FA899185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02300C-5EDC-49A5-80B5-E561109E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10B981-5C7A-4EFE-A837-A5193E95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99E54B-BE23-426B-BC7A-88563B87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F7CF40-4E74-4E27-BEC9-3E39EC92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05 IDEATION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CBD764-DEC9-4115-8329-754D5C33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06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DB294E-6D2D-4F44-A78F-0A014847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38F2AD-9EFC-41A2-9BA6-293CD3A0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9E24A-93B8-409E-953B-FD3D54F1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Concept Iteration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6F1976-B1EB-4A0E-8F8C-A669B549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The design evolved from recognition-heavy triggering to a more robust spatial performance model.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3D62B-A822-40B6-B301-2F031ABF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5A5FA6-8F33-408D-959F-978F265A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127F69-76A3-48F4-86A7-75DD360C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V1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BC7241-45DE-47F6-8773-355A871F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Image-triggered media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B9C475-854A-45CF-87CC-DF9CA883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Interesting concept but unstable in Quest Browser.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BA96BA-435A-490A-A100-64DB3298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0DFBB8-F993-4746-9B31-3F34E301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9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ED150E-411E-4117-84AB-98CE4473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V2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1672C0-C7D1-4CE1-91A0-4EBE2ED5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Cards plus gestures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66474A-E6C0-454E-9803-57466550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Stronger interaction, but still too dependent on recognition accuracy.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810ED0-AF8C-4072-939E-D9A29C2C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B17251-DCC2-4C01-9480-55529F66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3BD3FF-976B-42F2-98C3-F03B7EA5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V3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95B7EC-3275-4776-A7C3-B2AC853C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World-locked stage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A1DF2D-FD71-4733-9A83-EF17302A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Most coherent balance of stability, clarity, and performance.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494761-05F5-4400-924D-73D47853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6499716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d2d9035c19422e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076B9-8D89-4D0B-84ED-A1B36789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3BDEFF-4B73-4112-A0B9-67959981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00EC0D-E5FD-4835-A193-D2FC22EC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823C55-4E52-4A83-B381-216CD9ED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AC1290-0675-4EA8-99E3-B737E4FB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146341-8CE3-44E2-B952-C0BAFBA4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06 FINAL CONCEPT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6B0E9-B761-4156-AC30-D5732872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07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CD83B5-EB11-4BAE-A11E-6E7A65C1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94CAE-7385-4C0C-BE9E-C3C2CF44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3EEC7-1970-4003-8B3B-C1B436EB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Final Experience Composition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71325F-3F83-41A6-BEE8-40DB85C0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The final system combines a silent MV altar, member arc, floating portrait, BGM, and a reactive light stick.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82DD0-E428-4DE7-987B-18164602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A444CB-2617-41C8-B1C6-57B2C07C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F06AFA-0B7E-4ABB-8B5C-9111BF41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A977EC-EF92-47D9-995D-DA727A05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CE51F6-B2A3-42F1-ADBC-DCEA0D49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BB63B0-2FE7-47F1-9153-F6478FE5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7E6720-DE5A-4B72-89A9-0D1A0EEF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Central screen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21D0A8-51F7-4764-B913-99CDECBB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 silent looping MV provides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atmosphere without competing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with speech or spatial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voice.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8A91F9-544B-41BE-9F41-5D04CBF4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71CCB2-BFCD-482D-B0E9-57C0D905A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70EB0-B3AA-4350-841E-A8D20C21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F3E1B4-D56D-435B-9C38-AE08CE09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6C7DD7-1081-4AA9-893F-0248850B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BDE1BD-6755-4D76-9E18-778B49E5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A91F66-9110-4517-AD6A-722C0468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Member arc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DACCFB-770C-44C7-847F-F125B968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Curved member cards support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selection, navigation, and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comparative scanning in a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natural field of view.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5314AD-E460-4169-B18F-EB9D2131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C4E590-5153-4E30-B39A-E09942BC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15BB0B-F32F-49DD-9FF6-848AB7BA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BD391F-1244-4080-B5DE-16EE5E15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32DA55-FE9B-4773-A9E1-71B97FFA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AA99C0-93D0-4EBD-A8D2-DB1226B2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FEC20E-5886-4A2C-A24C-D5DA9708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Reactive feedback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DB505D-31F7-474D-A9FB-E2B71F95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Ground cue, spotlight,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particles, and light-stick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color changes reinforce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selection and performance.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6D3233E-B2B0-4A7C-9AE9-E6ED6E09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611407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eab1ac0e9f43c1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96E3D-C440-4314-9FE9-6ADDBCFC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9BD0F-C44E-4649-B5D4-531F5A19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55057-3882-43B1-92BD-FC269E36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BC36A0-69FE-470D-A8C0-FEEC223D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35921-CE29-4DE2-80B9-471008EF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79094B-BE96-42FC-83FA-F3CA8EB3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07 USER JOURNEY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A29C0-B27D-4266-93BB-25C0CD62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08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045D30-6D9C-4F4D-B154-473E6EDA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5450A1-3397-466A-ACB2-BAD297E5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7BC90E-201C-4905-AB7C-BFDE91DA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Interaction 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D85FA9-969E-40F5-9030-EF5236CF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The experience is intentionally progressive, moving from orientation to selection to performance.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0769C7-AAA3-4FFC-B265-2346837D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115CAD-98A9-471D-832A-21894A01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24FE23-CF82-4BB2-AB58-D14738A4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435520-AC07-4FA7-B93A-259C9055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034DB-CA88-4534-82AD-BB80A012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517D79-1A7E-4D67-A382-8FDD8C18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813990-2D5C-4A6D-B36F-238843F5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Start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4C779A-FDE2-495C-915B-14E60D1D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The stage appears in front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of the user and stays fixed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in the lawn space.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E7FC9E-DED3-4BD9-8940-0BC4AD81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9B67FF-2AC2-4B71-B393-91339340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79B8D5-6095-4131-A3F1-794A3AC8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99E32B-2BDF-473E-9A9F-CBD1BCFC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44BD34-8C80-4D4D-A315-F5928821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C6CCD6-F0CD-4BDA-AB11-E6E4A97E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3F32AF-A9A5-4FB0-B687-DD679208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Aim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0DECEB-82EC-4806-A142-E4DC6B70E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Approaching a member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triggers feed-forward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targeting through light,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motion, and labels.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21D090-8EF7-4DED-9ACE-E4E20F8B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8F173A-E241-493C-90C1-B601CBBB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10DB59-3D94-453A-8560-5584E311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26CCB0-A690-47F3-8AB5-DBB4BD1B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88A0C9-2A9D-4006-84BD-EFD89447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4C5F53-F2F2-4019-A7A7-CD2D2BBE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D882131-944F-42DB-AF49-D238D553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Selected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60DA47-398D-4109-B5F2-9A56A35B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Voice playback, portrait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reveal, and audio hierarchy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confirm that the chosen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member is active.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13837B-6383-40BB-9863-62E405C7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0408893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cd94a313745bc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CC085C-07A6-403E-AD61-660EFD99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EDD42-EAD2-4234-8A83-D93EC452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01D42-D26B-4283-9C03-12BD5C26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CA9A94-956F-418B-B3D0-391B41A8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C2D92C-60E7-44C2-A4B0-3F9926DF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D92E73-8B7E-4318-A64E-3527E2991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08 PROTOTYPE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E22B88-A550-482F-AFCF-5277158F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09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74E18-56FC-4EC3-8184-D6E0ABA8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CDC7E-A358-4A49-8EF9-D2972A21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329A09-CB79-4409-A283-1D5FDF5E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Prototype Stack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F4B01-1297-43E9-A38A-FA68A29D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The system was implemented in A-Frame and WebXR for Meta Quest 3 with layered media control.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40F1E-AB5A-40EE-8E74-A25F42AC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EF90C-B2D9-4C38-BF3D-E760A3A2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88FB3-CD71-4E36-9265-3684D0D8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A-Frame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D7BCDE-D15D-4A6A-A087-2247006A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Scene authoring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D057B4-E2F9-4123-9644-95C3ACA5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Used for entities, media surfaces, panels, particles, and world layout.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A049FD-82A9-4EDD-A55E-D9ABBEDE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B6B4C9-9FDB-4BA9-A2ED-B069BE05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9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D6BB67-F999-4DE8-9F6C-D6457E1B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WebXR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781D30-5EA3-456A-A8DD-0BED30DE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Quest 3 runtime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592CD3-CD56-4E0D-90F2-3AFC5EBE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Used for immersive MR presentation and hand-tracking support.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981F0B-56AC-4FC4-9DE6-4D8E3C91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80DEB8-6415-484B-A8C2-A6FCA408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44DC3C-A74A-489D-9F5A-79B876D5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Audio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5138A9-1173-43D9-AAB8-B3D65495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Three-layer mix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426DED-CAAC-4F33-A2A4-B3D64FCE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Silent MV, looping BGM, and ducked member voice hierarchy.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160C5A-58F1-49A5-9786-F2F0BD17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6356763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ab8e5d3ec44116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15FAF9-B3C9-490C-B6F2-F31D6C144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27D94-7F57-4DD4-B460-85C19AE5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08DCA-04C7-4ED3-BD61-D8172BFB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37FCB-705A-42D1-A3B2-9A32847F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9BDBF-F24E-4347-BBA3-C6B49E86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83A10-3B39-4BF5-852F-4C2FC40A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09 PROTOTYPE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0978D-0344-4C09-87F1-D91A19E0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10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9E4091-D58E-4F2D-9858-F9C9A28C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11C118-2718-4568-8E94-F34DE1B15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6B40A3-A706-47E7-91DF-703A6C3F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Core Interaction Logic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D7718C-36CA-494F-A3F6-6A36BA53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A simple state model keeps the behavior readable and easier to debug.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3795C0-C559-41D4-9506-B9E44664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F4AEB1-916F-4EBE-9889-A515BC37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470007-1ECC-4C6E-B0DB-74D37EC4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FA7490-E296-4B5A-9AD0-D8E16962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CF92A9-7BFE-4902-9BE7-52AE997C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676EC6-8648-4C92-BF89-9DFFD543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28E509-5304-4466-9AFA-A0D6D9E9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Candidate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94BE38-5FA7-4396-BABB-91D060BA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 member becomes the current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target through proximity and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visual feed-forward.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68C09D-AD92-4381-91B2-B5EC85F3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DB5335-13E6-4F84-B0C2-619E2E1C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566EE2-3016-475C-B7E5-036A8C50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2A1545-1FF8-432C-959B-56D75C84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E9A8BE-8017-4F69-A2E5-C5519B81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4A7DE6-63B7-4E9F-83BA-0FF10B61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EDD6E5-072D-40AA-BC30-71437B82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Selected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C3B244-9054-4675-85E7-D97E7174F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The active member receives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voice, spotlight, floating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portrait, and reactive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performance feedback.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B6AF9B-A6A6-4D65-BFF0-EC476842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58264C-A235-41DE-BF9F-161911C5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EBAE38-21EC-418C-B3A7-78F64A6A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521401-2848-4C79-9DD3-B6A910DD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FB0D70-0F14-45AF-882E-E3EF29D7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15758C-4302-4EF0-A08B-2EC3937B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4BB5CA-C288-4ECE-8B1A-CF6AB92E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Released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0E98FE-9BF0-4357-A2B4-0155AF5FA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Audio fades out and the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light stick returns to a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breathing idle state.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1017C0-20A2-477E-9771-D56033F5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9397978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e949669e44e05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9C0643-B472-4C4F-BE77-E4191DEB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788C9-C9FC-4293-A5E6-E11A6D11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FAD62B-FAE8-4DA5-9030-4851C8EC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41B1E2-27DE-45DC-9958-0140146E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5C085-6505-49FC-AB07-880D2077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286D95-F37E-4CB2-9CED-E3529092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10 PROTOTYPE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FC981-3294-49BD-9F48-49A377FF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11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B4A2DE-C080-48C3-AD0F-5F8CCF7F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9D302-EBFF-4A05-B64F-C88AEDCD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37D37B-9DF5-4A1A-8037-11D8EABF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Key Features Implemented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9DA950-9746-46DC-B554-8A74722D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The final prototype works as a coherent mixed reality system rather than a static mockup.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30F0C2-A281-4A2D-ABC1-A72CA5BF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4DA1B3-E3FC-4F98-86B9-CB8B781C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B52387-989A-4E44-B5B6-18D735CE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DA0ABE-ECE2-4FD3-A180-2D3228FC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B0DF56-358A-4892-846F-02695DA3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087336-B945-4176-9D50-D3759AEA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8CD088-7DAD-40FA-A30A-DBB0CF18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Spatial stage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3BD4E5-332F-4936-85EB-CAAB46B4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World-locked placement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creates a site-specific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altar that users must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physically approach.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51F397-04D0-41F4-9E82-C9B80889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53B7B9-F7B8-4033-B0E4-2AE280C76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A5C79E-87C5-4956-853E-FFF81971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9DA01E-48EB-46EA-8A54-66841266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CDA80C-FF7B-47E9-9B91-D6143140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BFAD29-95AE-4A2C-8A1A-B2D338ED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97EDE-8CFC-41F4-A6FD-8B0F4716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Media hierarchy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A337BA-A90D-447D-9126-04576EE3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Silent MV loop and BGM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ducking preserve speech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intelligibility during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member playback.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F540B5-9C9A-42B5-BD21-7F6A47D6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CDDD89-47A2-4AF6-B53A-F29EF36F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C43CE8-9630-4632-9095-61AE743A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52E463-D02E-4309-BD04-609D0908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DA1A80-7D08-4712-A2D4-ADB29FD34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DFE6CE-DDBD-4399-A457-39C99EAE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E2FD94-4A3E-4F98-8607-9AB5AB4B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Interactive performance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6A7548-AFD4-494C-8CC4-FF96723F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Wave-triggered particles and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light-stick syncing turn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selection into active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support behavior.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D773B0-926E-4002-99B8-A7B47475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9849255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a320ef353448d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9276F3-B29E-4820-B73B-01BE9E26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343C6E-A908-4A91-B1EE-85FD54B5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9D3937-3078-41A2-BD76-2A0AB44A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0387F-3BC7-4913-90F1-D3878AD8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6F60A7-BFBC-4192-862E-282B03FD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41E741-C262-4105-BFF6-637AA743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11 PROTOTYPE DEMO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F6AAF0-DA35-4AEF-889F-DC1D1C10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12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07C544-B183-4244-BDEE-8536BBA9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5B0910-3490-4905-8052-1E5F77CE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19D6FC-D1C0-4C52-80D1-395AC5FE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Prototype Running In Quest 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68146E-7484-43FC-9D95-A25EABEB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This section should show the system operating in real time on the headset.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CE7411-BF87-454F-AA94-AB28B5F7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A40A7E-027B-41FD-8E96-13276E3E6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4A00A0-7899-498A-94B3-3488EB80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Show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9A4B68-1DE3-4B6B-BBD7-A0A79BAE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Stage summon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C0A680-D7A5-4C6D-A228-B71EED8B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Central screen, curved member arc, and light stick visible at entry.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5EEF87-B038-419B-8A0E-53C747CF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FF0F2F-F7FD-4B89-9E60-2C125A0E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9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6A4F10-A867-4DE9-9A59-06FCBDEE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Show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F55AD0-F912-45CF-9A87-B9C537B6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Member selection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B26310-837D-4B99-BAD4-8D1CA1E0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Approach, targeting, lock, and floating portrait activation.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59457-D634-4B9D-AA9F-52171772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360066-0F54-4F21-8275-5048B8DD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07366A-B28E-4032-A3E1-FE1981B17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Show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FC372-240A-436B-B2EF-C1F5DE5D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Performance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E554AB-4FAC-4AAF-AB0C-3F84DCDA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Wave gesture, particles, audio ducking, and reactive lighting.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63CC8D-85B6-4579-9C97-0E48173E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3450360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ef8f23f4b4c7b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E11717-3EF8-4D1F-A1FF-464F2C0B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2ACF70-31A0-439A-8904-295255A7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B619B-AFBB-4741-A5F7-7A74ED9A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795B83-B08C-44DE-880D-E368B6FC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C346ED-8CE8-42F8-B6EF-7E609996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B03DB1-2EBE-416B-87B6-3C98CE81B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12 TESTING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B5CC65-AB0B-4996-84FD-60588A56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13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8C26AC-E02F-4F21-AACB-050B81E2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2A8996-321D-4914-A259-6548A454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C94A30-A008-4BCC-A06D-31529C3B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Testing Setup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91EFC2-1063-4A43-BCE5-8D79A3AB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Testing focused on discoverability, state clarity, and the reliability of approach versus gesture selection.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74F2B3-9EBE-4907-9F27-6535ADA2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CA8A74-D88E-47CA-8316-95B9F3AC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1A599D-160A-4D77-87B9-A25088F8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BE7F9B-1A21-4CFF-A66D-B4AAAAD6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7884DE-A8DC-45E7-A6AA-96B35C79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ACF598-ABF3-4F09-8558-ECD5AF70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4E1EF9-4D80-48A4-9F4F-92B79941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Participants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038DD2-72BF-4578-9A54-AACC474A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Replace with your actual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participant count and short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description.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C916F9-D028-4134-8D1C-B2358BE2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98B1E3-2FC6-41E4-93BD-7922A703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86C27F-33AB-4F42-8C35-50389407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711A3A-7BFB-49B6-B427-F44DBA1CE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FF0B76-7953-4515-BE95-ADF474AC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BD4650-51B2-4A50-8EB9-69AF6C31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FAA123-786D-4EC8-947D-86793A67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Method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39051B-9FB1-4CFB-BB4C-F5825656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Replace with your actual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test protocol, tasks, and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observation method.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FB7A21-6B2B-4D06-B740-34B47706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9FF48A-6F58-48A2-A419-1B399233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61DE5D-B20B-4D76-93BA-B7FEB087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4BAE78-6D95-447B-9C7E-6076F814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A04179-795C-4832-AD43-595E41C3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59269A-F792-4884-A7F0-16C7C216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FD5EF7-6704-403F-8840-8F574D4F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Tasks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2FCD51-1480-4F4A-85BD-78A7D34E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Start the experience,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approach a member, identify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the selected state, and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trigger playback.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D2DA1AA-F1A2-4EC0-9503-AEFD9690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32761880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1131a411e44ef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8D3EE5-7547-4C7E-BC3C-98B9495B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176EF0-053F-4C8E-90DB-ACF8F9F9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D68712-07B6-45E5-97CB-BDCF1743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658C69-E954-4B99-BF9E-CF1CC7B9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B42EA2-824D-476C-88A9-0B7A28F1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B3CD58-370E-4D99-A7C0-9556328B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13 TESTING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6562A5-3CDD-4717-AC5F-D2E3712C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14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3D2EFE-8681-4CD7-BB09-8AB8CA72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9F7375-BD5B-43EE-9E58-21C73F07D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66C449-595C-4389-B13A-C87C505B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Testing Results And Key Findings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7FFC6-7BFD-4C53-89A5-E33505E0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The strongest findings were about selection clarity, audio intelligibility, and robustness of triggering.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D5B0FF-859C-43B0-B4E5-548B80B8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AC0F0-2638-405E-B451-7E19FE26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176564-4F4E-42EA-8AFC-D9983D89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66BCBB-4C04-40F4-8A3C-AF4B262B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12BCED-DF9B-4562-BD7B-84F45DAC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A2D782-E0D3-4088-87A5-000FF778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F8B1CF-4E23-4227-9E66-122CB76D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What worked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A06721-A148-4BAA-AAE7-A6229939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Users understood the stage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composition and could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identify that members were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interactable.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AA150A-4211-4FA7-9A74-40B2AA72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7EF236-7DDF-4739-B669-2A60185B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68C02D-48B6-4E27-9FF4-8F98CD3F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868B04-85FA-4AAA-AD0C-0D49172B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48FDED-53B7-41DA-BAC1-F4BE88BB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9BB769-839A-48A3-9C46-10D7CB8F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AA1699-0D4E-44EB-8007-A924855D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What was unclear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0001BD-9C42-4BB5-8DA9-789A177D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Users were not always sure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whether they had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successfully selected a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member.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41603C-5841-44E4-B8CD-260746B9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AE7FD6-2049-4D88-ACF5-A1D74EBB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4D17CF-0BEA-44C6-A620-207CB3A3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405507-82FD-4D9F-8688-D554B75A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9C5351-0D9B-44E2-BAF6-E3C23917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93C71C0-9F76-467D-914D-EB66ABEB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9FD667-DACE-4F34-9A4B-365744BE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What changed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05E263-E9F5-49C3-B4A6-37DF4123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 increased target feedback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and made proximity a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stronger fallback to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gesture-only input.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E7649D7-2D00-4E11-8068-CB61B85A3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5467665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0d3a55aea84e22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E23EDE-A332-48AB-A696-1C17AF57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2003E2-CE70-486C-B225-9FB2393F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653DC-C489-41B2-800C-F1693192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2E988B-249F-40CF-B1CB-A9D864DA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59F227-6447-4C79-9A44-4BD2C7F1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8C5E3-40AA-4934-975A-8286FD14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14 ITERATION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49A798-1A61-4B7D-85B7-FC32DE6C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15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854018-5A89-4762-9843-4BCE8CB0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280E4F-6ED1-4D83-BCB5-282C6BE2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EE3B7B-4741-42AA-A7D8-23BE128E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Design Changes After Testing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746FCD-09B2-4EF1-9B82-6CB9180E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The revised version is more readable, more performative, and more stable.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42770E-CB68-4A80-BF2B-63C2CF51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CF701D-36D3-42F4-A24C-FE5B3103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927DDA-027E-4BE5-9E26-A2139D31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Before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8B8BEC-B49F-4A76-AFBB-1C5BE2C4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Weaker state clarity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4A00AE-8387-4029-AF60-5071CD6A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Users could see scaling, but not always understand successful selection.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E934BB-6DAF-4A5D-91C0-8439D398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391B1A-A9D9-4D5D-AAAF-284C8C1B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9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D7C2B4-B9A4-44D3-895B-936714F3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After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4A9D8D-612E-46CC-906D-D1D08F7B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Clearer performance cues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1F9A1B-0D75-45AC-9050-943A57FD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Floating portrait, ground ring, spotlight, and text labels reinforce state.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7B772E-01C0-409D-86BC-63713898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F6A199-B4F1-44C1-9AA8-91BE7E7E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75D891-D92F-49B4-8CF2-361543D2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Result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78A02-B187-47E8-884A-EFE4EFEE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Better usability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A320AF-5F0C-49EC-BBBA-231CC817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Selection is easier to interpret and the final scene feels more theatrical.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8527E2-A76A-4A38-8AAC-E370B3EF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4293289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087e14d146477b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6C98D-7DFA-4BAD-944C-5A0BF3D4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A1AEC1-ABB3-40AC-B527-F2186B86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41453B-CBC3-41B7-B334-56C9326C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294F87-081A-4CCD-9C20-F54A2751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E759A4-C9C9-438E-A53A-FBAF1406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0128E7-E842-4357-996C-E5CAD144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15 HCI REFLECTION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07120E-0E3F-4114-926C-6A860944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16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6CEC3D-8C0B-4EF0-9BEF-0D7234CDD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62D42-FD6A-44A4-9ADA-38B54A73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830039-8D61-472F-801A-A42719DB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HCI Concepts Applied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E5062A-D078-4B36-8D0C-2448EEB3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The prototype was shaped by spatial interaction principles rather than visual novelty alone.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895A68-8ECD-4F67-9F29-4CF84711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6C4B34-8683-4A88-AB4B-F959F468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A93656-99DE-4694-A2C5-4D9D5584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0995-2AE2-4B1E-879A-B4F8BAB4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AF4BE5-1531-47CE-B341-7C65DBC0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D3EA11-CB32-40E4-B5F4-150A6DD5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F3E393-7E81-40A2-A311-ED93EC18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World-locked vs body-locked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12F8AC-1B96-41DC-ADFA-B15FDA77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Keeping the stage anchored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in the lawn made the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experience site-specific and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spatially meaningful.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7859E7-0CF2-4F32-A1A9-F11366D1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48FC7C-DCC5-4A4B-BA7E-27436A85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91E84-1937-4910-86CC-417F5350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519E00-DB76-4F1A-985D-77FB9DE1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684F11-7CEE-443E-AB44-902A64C0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59DADA-7B6D-4BF1-B090-5F8215C3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C56D9C-8011-4689-BAD1-A746813D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Feed-forward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B146E9-54E6-4525-9FC0-86B6A2CE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Target glow, labels,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spotlight, and ground cues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help users understand what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will happen before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selection.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C20139-A834-4631-8A9B-C6459ADA4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4C54D1-4A80-4221-9283-F5998D1C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9AEDFE-99F4-448A-B39B-754A61F2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94C410-26E4-4223-9ACD-2C26C2192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809E8C-119E-45EC-A876-F52FD9C4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6C3EF3E-16FB-4621-AB1D-7B363EC2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43AEA1-E080-4F5A-9FC5-F4A7E0E0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Multi-modal interaction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8895E15-8A4D-4B37-BDEA-2D055838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Walking, gesture, light,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sound, and particles work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together to produce a more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performative experience.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9BB86D6-2632-4FBA-B19B-097ADCA7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202858734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b94fd04d354410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E76A87-E895-4203-A4AB-9BB4B921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04B63C-1A1F-47EE-84F4-B6795776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3C1A5-80CD-40EC-9870-F46E3426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481CF6-FABF-4D9A-B53C-B6124142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F2F89-D9D2-4B56-8BA6-2AA29643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40506E-BAF0-498C-A86F-8AD5AB30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16 HCI REFLECTION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6F74A-41B7-44DD-9624-AFAF7E83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17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AEC14C-5115-47B9-BD84-A1668FC0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7B8ED5-B438-4B2F-9688-F7CFA28D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BD3B45-B018-4517-BBBD-B94D1F74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Perceptual Continuity, Audio Hierarchy, And Accessibility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7FEE65-5468-48B1-A8F3-7EBC385B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A major improvement came from reducing overload and giving users multiple routes to success.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949DAD-7015-4214-8297-204F8FF9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9ABF5C-D567-45B5-937B-48641BADC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AEBBAF-AEC6-4CE8-9F1C-8B903B50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965B54-63E2-4FDD-8DB5-92E42F69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319100-D34E-4823-9D62-A3170D3C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205D7E-5D5F-48E0-9CA3-1650DEB0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D86B47-ACE7-463F-B8FC-D938A181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Continuity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2DA6D0-923B-4C4F-9DC3-0450F23B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Silent MV, looping BGM, and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voice fade transitions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reduce abrupt mode changes.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C3BBAF-9F77-46F4-9A4A-A50C4078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04BA0C-437C-42D2-82D2-C6F97357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31F6A9-EB79-4F0C-B0D0-6B32E813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546CAC-E2DF-4431-9C55-3D35E221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2EF1F4-096A-4EC7-A06C-23D05A42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E3A875-667B-4216-BCED-2068F176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8685D6-43F7-43EB-8AA5-4D59FACF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Hierarchy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426564-999F-4960-8430-13EADB4B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BGM is ducked during member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playback so speech remains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understandable.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9BB956-72AC-45FB-A0AE-693E94B76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ECEF36-8FE8-46C7-B0B2-6546EA06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5F49B2-8846-496A-A9C9-CE52DE7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5EFF4F-FA9D-4864-8B8F-EB5EA8B3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0C185D-413B-4F11-A806-4C796FD8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F3A646-C4F2-4E69-8F2D-947393CA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C2F94B-EE50-4C6B-8BFB-67195807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Accessibility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B34931-F58E-4541-92F8-41374932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Users can trigger the main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experience through proximity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even when pinch is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unreliable.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F5EF3E-4CA2-4B96-AD4A-74F8C856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79331578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afe1f7da7457a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C88634-636D-437A-B207-722AF594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E55E3F-9116-46A8-9D57-AF2E339E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C2236D-76FC-41C4-A3C1-26D1BDBE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C6CFA7-36B6-4A60-966D-6230BFE3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E00228-D6FC-452A-AE63-2CCE608D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2157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AC36F-AAAD-47A0-8F94-6EF2D5C8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17 LIMITATIONS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A1D39-A8AC-4CFA-A852-38EB53E3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18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41012F-2354-48A6-A9E8-1582DC9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83D78D-B682-4CCA-B1C5-535CDD75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C69C48-1DF5-4367-8C3F-FCF4DD71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2390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Limitations And Future Work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686584-8760-44A4-BFE7-0703C0C6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The final prototype is functional, but several areas could be improved in future iterations.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4973FD-2B12-4AAF-8DA5-7FF7E930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3CA6CA-BD28-44E5-8F86-1EA496A7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DB44DF-281E-436E-A82F-52F3DA96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21B9B3-377D-4E31-B897-8C732528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91025"/>
            <a:ext cx="571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1DDC0A-FF24-410B-A489-97B91563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4314825"/>
            <a:ext cx="57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CA2ECE-DF72-4014-B6DE-3655FDA1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48150"/>
            <a:ext cx="571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633490-E492-4632-9D56-42A1D47C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Persistent anchor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1772EB-03AF-4F5C-A05A-92911CBC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The stage is convincingly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world-locked, but not yet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saved to a precise campus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landmark across sessions.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95C364-AF86-4C39-8BA1-FEC0E6F81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145F9A-91BB-4C34-8472-F98AAF40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419503-E6AC-4323-923A-5ADC8AE0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80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BABDE5-A421-47DE-9F20-30BC0C7C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625" y="4286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7BC1C8-6ECA-48B8-92DE-341EDFBF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8075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1108BC-6822-418F-A7E4-8F0B4D84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2350" y="4352925"/>
            <a:ext cx="180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39E1B3-AF9C-497A-BF4A-C7590497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145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Tracking robustness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928882-121D-4D5E-B642-A2FF1BF6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85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Hand tracking outdoors can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still vary depending on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lighting and body position.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E6EF03-CDB7-47B0-AE9B-13C18EB2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3384550" cy="186690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1E02DF-071F-42D6-997B-9514EE50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0" y="3886200"/>
            <a:ext cx="762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7CB42C-90AA-47CD-AFBE-3073A239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950" y="41148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523">
              <a:alpha val="94902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6A3042-B726-4318-BFF8-A28621CC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775" y="4257675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E96B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CC5DE8-91CD-48E7-A262-141B9972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7400" y="4343400"/>
            <a:ext cx="247650" cy="1238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D9A1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979633-16B7-48D9-B4ED-F05001515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025" y="4429125"/>
            <a:ext cx="1905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4D9"/>
          </a:solidFill>
          <a:ln xmlns:a="http://schemas.openxmlformats.org/drawingml/2006/main" w="9525">
            <a:solidFill>
              <a:srgbClr val="F4FFF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742BA5-D362-42C4-A922-889872F5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00" y="4095750"/>
            <a:ext cx="235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6E96B"/>
                </a:solidFill>
              </a:defRPr>
            </a:pPr>
            <a:r>
              <a:rPr sz="1050" b="1">
                <a:solidFill>
                  <a:srgbClr val="D6E96B"/>
                </a:solidFill>
              </a:rPr>
              <a:t>Scale and accessibility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1E7C2EA-152A-41EF-84AF-5188DFBC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00" y="4667250"/>
            <a:ext cx="29273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Future work could add more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members, more accessible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input modes, and richer user</a:t>
            </a:r>
          </a:p>
          <a:p xmlns:a="http://schemas.openxmlformats.org/drawingml/2006/main">
            <a:pPr algn="l">
              <a:defRPr sz="1050" b="0">
                <a:solidFill>
                  <a:srgbClr val="F4FFF8"/>
                </a:solidFill>
              </a:defRPr>
            </a:pPr>
            <a:r>
              <a:rPr sz="1050" b="0">
                <a:solidFill>
                  <a:srgbClr val="F4FFF8"/>
                </a:solidFill>
              </a:rPr>
              <a:t>testing data.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8E0767-ED20-43AD-A830-AFEAA4F8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202422178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611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E2783E-8103-4E36-82B8-E6EC26DC8F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69e5ae084354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0E84C-1ACC-4916-B931-9395F5F5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-990600"/>
            <a:ext cx="3714750" cy="3714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>
              <a:alpha val="1490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FF065-19E2-476C-A898-FFDB096B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76300" y="468630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4D9">
              <a:alpha val="1019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FE6AB-BA5A-401A-91DB-420BF035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209550"/>
            <a:ext cx="11696700" cy="6438900"/>
          </a:xfrm>
          <a:prstGeom xmlns:a="http://schemas.openxmlformats.org/drawingml/2006/main" prst="roundRect">
            <a:avLst>
              <a:gd name="adj" fmla="val 1183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0478">
            <a:solidFill>
              <a:srgbClr val="49645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7FB70-811E-4E2C-A213-81185A0A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413">
              <a:alpha val="8392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DBAB07-EC9D-408F-82CB-FA5528C3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74118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F356A3-8866-47D9-82BE-9691A8E7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6E96B"/>
                </a:solidFill>
              </a:defRPr>
            </a:pPr>
            <a:r>
              <a:rPr sz="975" b="1">
                <a:solidFill>
                  <a:srgbClr val="D6E96B"/>
                </a:solidFill>
              </a:rPr>
              <a:t>18 CONCLUSION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D9628F-DDB3-4E5B-BFEC-4668A235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23850"/>
            <a:ext cx="990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0D2C8"/>
                </a:solidFill>
              </a:defRPr>
            </a:pPr>
            <a:r>
              <a:rPr sz="975" b="1">
                <a:solidFill>
                  <a:srgbClr val="C0D2C8"/>
                </a:solidFill>
              </a:rPr>
              <a:t>19 / 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CEA34E-27E4-48F3-BFEE-1CBE4D29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64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F775C5-2896-4B4C-8A7E-1F1D2FE9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29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13335">
            <a:solidFill>
              <a:srgbClr val="7FA7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FCDF12-7B7D-40F1-9CB8-8C47146A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6667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FF8"/>
                </a:solidFill>
              </a:defRPr>
            </a:pPr>
            <a:r>
              <a:rPr sz="3000" b="1">
                <a:solidFill>
                  <a:srgbClr val="F4FFF8"/>
                </a:solidFill>
              </a:rPr>
              <a:t>Conclusion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A28016-E332-4D09-A01C-7B0C2E64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0D2C8"/>
                </a:solidFill>
              </a:defRPr>
            </a:pPr>
            <a:r>
              <a:rPr sz="1425" b="0">
                <a:solidFill>
                  <a:srgbClr val="C0D2C8"/>
                </a:solidFill>
              </a:rPr>
              <a:t>This project demonstrates how mixed reality can turn a real campus lawn into a spatial performance experience.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EE8227-5EA3-4AA1-82E3-0C5CD8B3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5AC025-E34D-4583-B32A-C44D2DBA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96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DF0CE6-C374-4CAC-B530-7B5261FD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A60100-0C78-4272-B027-9BC4B03D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Site-specific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714298-E090-4F72-89A4-8F1A0599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Real campus context directly guided the design choices.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9F5986-8BAF-4630-9E7B-EDD57BBC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572797-4DC8-4242-A791-5BD3BBD1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9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910621-6650-452F-8DE5-0D253695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Prototype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CEFC60-8149-4B9C-8D51-6A63220F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Working MR system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D82D2B-BEF4-444C-B6BE-99DD7B5D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The final build integrates stage, sound, gesture, and performative feedback.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88C796-ED92-457A-B143-579A9D5F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1201C">
              <a:alpha val="94118"/>
            </a:srgbClr>
          </a:solidFill>
          <a:ln xmlns:a="http://schemas.openxmlformats.org/drawingml/2006/main" w="11430">
            <a:solidFill>
              <a:srgbClr val="7FA79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7CE83D-3387-4CBE-9D70-9DB4CB99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14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4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AEB743-E4CB-49AE-8BA8-26693A28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76700"/>
            <a:ext cx="2724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FF8"/>
                </a:solidFill>
              </a:defRPr>
            </a:pPr>
            <a:r>
              <a:rPr sz="2550" b="1">
                <a:solidFill>
                  <a:srgbClr val="F4FFF8"/>
                </a:solidFill>
              </a:rPr>
              <a:t>Reflection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0EED13-E478-4093-908A-D893012B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6291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0D2C8"/>
                </a:solidFill>
              </a:defRPr>
            </a:pPr>
            <a:r>
              <a:rPr sz="1200" b="0">
                <a:solidFill>
                  <a:srgbClr val="C0D2C8"/>
                </a:solidFill>
              </a:rPr>
              <a:t>HCI-led iteration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0A2C2E-8C7D-4409-995F-2128F785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05400"/>
            <a:ext cx="2686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The strongest outcome came from choosing clarity and robustness over fragile novelty.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E7D583-F4ED-48C8-BFD2-B0112970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33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8A095"/>
                </a:solidFill>
              </a:defRPr>
            </a:pPr>
            <a:r>
              <a:rPr sz="750" b="0">
                <a:solidFill>
                  <a:srgbClr val="88A095"/>
                </a:solidFill>
              </a:rPr>
              <a:t>Generated art plate is used as visual direction; all meaningful copy and structure are editable PowerPoint objects.</a:t>
            </a:r>
          </a:p>
        </p:txBody>
      </p:sp>
    </p:spTree>
    <p:extLst>
      <p:ext uri="{BB962C8B-B14F-4D97-AF65-F5344CB8AC3E}">
        <p14:creationId xmlns:p14="http://schemas.microsoft.com/office/powerpoint/2010/main" val="13802667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2026-04-25T08:43:50.0900000Z</dcterms:created>
  <dcterms:modified xsi:type="dcterms:W3CDTF">2026-04-25T08:43:50.0900000Z</dcterms:modified>
</coreProperties>
</file>